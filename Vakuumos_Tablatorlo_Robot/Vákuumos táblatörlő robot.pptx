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4223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A robot 3D modellje"/>
          <p:cNvPicPr>
            <a:picLocks noChangeAspect="1"/>
          </p:cNvPicPr>
          <p:nvPr/>
        </p:nvPicPr>
        <p:blipFill>
          <a:blip r:embed="rId4"/>
          <a:srcRect t="40" b="40"/>
          <a:stretch/>
        </p:blipFill>
        <p:spPr>
          <a:xfrm>
            <a:off x="5365750" y="996950"/>
            <a:ext cx="6007100" cy="5041900"/>
          </a:xfrm>
          <a:prstGeom prst="roundRect">
            <a:avLst>
              <a:gd name="adj" fmla="val 3904"/>
            </a:avLst>
          </a:prstGeom>
        </p:spPr>
      </p:pic>
      <p:sp>
        <p:nvSpPr>
          <p:cNvPr id="4" name="Shape 0"/>
          <p:cNvSpPr/>
          <p:nvPr/>
        </p:nvSpPr>
        <p:spPr>
          <a:xfrm>
            <a:off x="5362575" y="993775"/>
            <a:ext cx="6013450" cy="5048250"/>
          </a:xfrm>
          <a:prstGeom prst="roundRect">
            <a:avLst>
              <a:gd name="adj" fmla="val 3962"/>
            </a:avLst>
          </a:prstGeom>
          <a:noFill/>
          <a:ln w="6350">
            <a:solidFill>
              <a:srgbClr val="2A31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Text 1"/>
          <p:cNvSpPr/>
          <p:nvPr/>
        </p:nvSpPr>
        <p:spPr>
          <a:xfrm>
            <a:off x="812800" y="1176635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FF6B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PROJEKTMUNKA · 2026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812800" y="1593155"/>
            <a:ext cx="4316730" cy="2046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304"/>
              </a:lnSpc>
              <a:buNone/>
            </a:pPr>
            <a:r>
              <a:rPr lang="en-US" sz="5200" b="1" kern="0" spc="-100" dirty="0">
                <a:solidFill>
                  <a:srgbClr val="EEF1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Vákuumos táblatörlő robot</a:t>
            </a:r>
            <a:endParaRPr lang="en-US" sz="5200" dirty="0"/>
          </a:p>
        </p:txBody>
      </p:sp>
      <p:sp>
        <p:nvSpPr>
          <p:cNvPr id="8" name="Text 4"/>
          <p:cNvSpPr/>
          <p:nvPr/>
        </p:nvSpPr>
        <p:spPr>
          <a:xfrm>
            <a:off x="815975" y="4086243"/>
            <a:ext cx="1657350" cy="346670"/>
          </a:xfrm>
          <a:prstGeom prst="roundRect">
            <a:avLst>
              <a:gd name="adj" fmla="val 50000"/>
            </a:avLst>
          </a:prstGeom>
          <a:solidFill>
            <a:srgbClr val="191E25"/>
          </a:solidFill>
          <a:ln w="6350">
            <a:solidFill>
              <a:srgbClr val="2A313B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EEF1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116 mm törlősáv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2581275" y="4086243"/>
            <a:ext cx="1840309" cy="346670"/>
          </a:xfrm>
          <a:prstGeom prst="roundRect">
            <a:avLst>
              <a:gd name="adj" fmla="val 50000"/>
            </a:avLst>
          </a:prstGeom>
          <a:solidFill>
            <a:srgbClr val="191E25"/>
          </a:solidFill>
          <a:ln w="6350">
            <a:solidFill>
              <a:srgbClr val="2A313B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EEF1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≈ 2,4 m² / töltés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553170" y="4540864"/>
            <a:ext cx="1840309" cy="346670"/>
          </a:xfrm>
          <a:prstGeom prst="roundRect">
            <a:avLst>
              <a:gd name="adj" fmla="val 50000"/>
            </a:avLst>
          </a:prstGeom>
          <a:solidFill>
            <a:srgbClr val="191E25"/>
          </a:solidFill>
          <a:ln w="6350">
            <a:solidFill>
              <a:srgbClr val="2A313B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EEF1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16,8 N leszorítás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FF6B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— A CÉL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EEF1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tábla automatikus letörlése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15975" y="1857276"/>
            <a:ext cx="2482850" cy="3981549"/>
          </a:xfrm>
          <a:prstGeom prst="roundRect">
            <a:avLst>
              <a:gd name="adj" fmla="val 7033"/>
            </a:avLst>
          </a:prstGeom>
          <a:solidFill>
            <a:srgbClr val="191E25"/>
          </a:solidFill>
          <a:ln w="6350">
            <a:solidFill>
              <a:srgbClr val="2A31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6" name="Image 1" descr="ventilá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98550" y="2139851"/>
            <a:ext cx="889000" cy="889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680891" y="2139851"/>
            <a:ext cx="386159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6B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98550" y="4634409"/>
            <a:ext cx="1975231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EEF1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Szív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098550" y="5058569"/>
            <a:ext cx="1975231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9AA3A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ventilátor elszívja a levegőt a robot alól.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3508375" y="1857276"/>
            <a:ext cx="2482850" cy="3981549"/>
          </a:xfrm>
          <a:prstGeom prst="roundRect">
            <a:avLst>
              <a:gd name="adj" fmla="val 7033"/>
            </a:avLst>
          </a:prstGeom>
          <a:solidFill>
            <a:srgbClr val="191E25"/>
          </a:solidFill>
          <a:ln w="6350">
            <a:solidFill>
              <a:srgbClr val="2A31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11" name="Image 2" descr="leszorítás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790950" y="2139851"/>
            <a:ext cx="889000" cy="889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73291" y="2139851"/>
            <a:ext cx="386159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6B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3790950" y="4634409"/>
            <a:ext cx="1975231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EEF1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Tapad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3790950" y="5058569"/>
            <a:ext cx="1975231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9AA3A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depresszió a táblához nyomja a robotot.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200775" y="1857276"/>
            <a:ext cx="2482850" cy="3981549"/>
          </a:xfrm>
          <a:prstGeom prst="roundRect">
            <a:avLst>
              <a:gd name="adj" fmla="val 7033"/>
            </a:avLst>
          </a:prstGeom>
          <a:solidFill>
            <a:srgbClr val="191E25"/>
          </a:solidFill>
          <a:ln w="6350">
            <a:solidFill>
              <a:srgbClr val="2A31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16" name="Image 3" descr="kerék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83350" y="2139851"/>
            <a:ext cx="889000" cy="8890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065691" y="2139851"/>
            <a:ext cx="386159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6B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6483350" y="4634409"/>
            <a:ext cx="1975231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EEF1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Halad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6483350" y="5058569"/>
            <a:ext cx="1975231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9AA3A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Négy kerék hajtja, kontrollerrel irányítva.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8893175" y="1857276"/>
            <a:ext cx="2482850" cy="3981549"/>
          </a:xfrm>
          <a:prstGeom prst="roundRect">
            <a:avLst>
              <a:gd name="adj" fmla="val 7033"/>
            </a:avLst>
          </a:prstGeom>
          <a:solidFill>
            <a:srgbClr val="191E25"/>
          </a:solidFill>
          <a:ln w="6350">
            <a:noFill/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21" name="Image 4" descr="törlőhenger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175750" y="2139851"/>
            <a:ext cx="889000" cy="8890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758091" y="2139851"/>
            <a:ext cx="386159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F6B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16"/>
          <p:cNvSpPr/>
          <p:nvPr/>
        </p:nvSpPr>
        <p:spPr>
          <a:xfrm>
            <a:off x="9175750" y="4634409"/>
            <a:ext cx="1975231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EEF1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Töröl</a:t>
            </a:r>
            <a:endParaRPr lang="en-US" sz="2200" dirty="0"/>
          </a:p>
        </p:txBody>
      </p:sp>
      <p:sp>
        <p:nvSpPr>
          <p:cNvPr id="24" name="Text 17"/>
          <p:cNvSpPr/>
          <p:nvPr/>
        </p:nvSpPr>
        <p:spPr>
          <a:xfrm>
            <a:off x="9175750" y="5058569"/>
            <a:ext cx="1975231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9AA3A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forgó mikroszálas henger tisztít.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812800" y="6238280"/>
            <a:ext cx="268160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9AA3A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VÁKUUMOS TÁBLATÖRLŐ ROBOT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10739041" y="6238280"/>
            <a:ext cx="6909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F6B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r>
              <a:rPr lang="en-US" sz="1200" dirty="0">
                <a:solidFill>
                  <a:srgbClr val="9AA3A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09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FF6B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— FELÉPÍTÉS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EEF1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 van benne?</a:t>
            </a:r>
            <a:endParaRPr lang="en-US" sz="3200" dirty="0"/>
          </a:p>
        </p:txBody>
      </p:sp>
      <p:pic>
        <p:nvPicPr>
          <p:cNvPr id="5" name="Image 1" descr="A robot robbantott nézete"/>
          <p:cNvPicPr>
            <a:picLocks noChangeAspect="1"/>
          </p:cNvPicPr>
          <p:nvPr/>
        </p:nvPicPr>
        <p:blipFill>
          <a:blip r:embed="rId4"/>
          <a:srcRect t="36" b="36"/>
          <a:stretch/>
        </p:blipFill>
        <p:spPr>
          <a:xfrm>
            <a:off x="819150" y="1631950"/>
            <a:ext cx="5829300" cy="4368800"/>
          </a:xfrm>
          <a:prstGeom prst="roundRect">
            <a:avLst>
              <a:gd name="adj" fmla="val 3924"/>
            </a:avLst>
          </a:prstGeom>
        </p:spPr>
      </p:pic>
      <p:sp>
        <p:nvSpPr>
          <p:cNvPr id="6" name="Shape 2"/>
          <p:cNvSpPr/>
          <p:nvPr/>
        </p:nvSpPr>
        <p:spPr>
          <a:xfrm>
            <a:off x="815975" y="1628775"/>
            <a:ext cx="5835650" cy="4375150"/>
          </a:xfrm>
          <a:prstGeom prst="roundRect">
            <a:avLst>
              <a:gd name="adj" fmla="val 3991"/>
            </a:avLst>
          </a:prstGeom>
          <a:noFill/>
          <a:ln w="6350">
            <a:solidFill>
              <a:srgbClr val="2A31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 3"/>
          <p:cNvSpPr/>
          <p:nvPr/>
        </p:nvSpPr>
        <p:spPr>
          <a:xfrm>
            <a:off x="3594100" y="2406650"/>
            <a:ext cx="279400" cy="278805"/>
          </a:xfrm>
          <a:custGeom>
            <a:avLst/>
            <a:gdLst/>
            <a:ahLst/>
            <a:cxnLst/>
            <a:rect l="l" t="t" r="r" b="b"/>
            <a:pathLst>
              <a:path w="279400" h="278805">
                <a:moveTo>
                  <a:pt x="139402" y="0"/>
                </a:moveTo>
                <a:lnTo>
                  <a:pt x="139998" y="0"/>
                </a:lnTo>
                <a:arcTo wR="139402" hR="139402" stAng="16200000" swAng="5400000"/>
                <a:lnTo>
                  <a:pt x="279400" y="139402"/>
                </a:lnTo>
                <a:arcTo wR="139402" hR="139402" stAng="0" swAng="5400000"/>
                <a:lnTo>
                  <a:pt x="139402" y="278805"/>
                </a:lnTo>
                <a:arcTo wR="139402" hR="139402" stAng="5400000" swAng="5400000"/>
                <a:lnTo>
                  <a:pt x="0" y="139402"/>
                </a:lnTo>
                <a:arcTo wR="139402" hR="139402" stAng="10800000" swAng="5400000"/>
                <a:close/>
              </a:path>
            </a:pathLst>
          </a:custGeom>
          <a:solidFill>
            <a:srgbClr val="FF6B3D"/>
          </a:solidFill>
          <a:ln/>
          <a:effectLst>
            <a:outerShdw blurRad="38100" dir="60000" algn="bl" rotWithShape="0">
              <a:srgbClr val="FF6B3D">
                <a:alpha val="25000"/>
              </a:srgbClr>
            </a:outerShdw>
          </a:effectLst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0D10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2717800" y="3194050"/>
            <a:ext cx="279400" cy="278805"/>
          </a:xfrm>
          <a:custGeom>
            <a:avLst/>
            <a:gdLst/>
            <a:ahLst/>
            <a:cxnLst/>
            <a:rect l="l" t="t" r="r" b="b"/>
            <a:pathLst>
              <a:path w="279400" h="278805">
                <a:moveTo>
                  <a:pt x="139402" y="0"/>
                </a:moveTo>
                <a:lnTo>
                  <a:pt x="139998" y="0"/>
                </a:lnTo>
                <a:arcTo wR="139402" hR="139402" stAng="16200000" swAng="5400000"/>
                <a:lnTo>
                  <a:pt x="279400" y="139402"/>
                </a:lnTo>
                <a:arcTo wR="139402" hR="139402" stAng="0" swAng="5400000"/>
                <a:lnTo>
                  <a:pt x="139402" y="278805"/>
                </a:lnTo>
                <a:arcTo wR="139402" hR="139402" stAng="5400000" swAng="5400000"/>
                <a:lnTo>
                  <a:pt x="0" y="139402"/>
                </a:lnTo>
                <a:arcTo wR="139402" hR="139402" stAng="10800000" swAng="5400000"/>
                <a:close/>
              </a:path>
            </a:pathLst>
          </a:custGeom>
          <a:solidFill>
            <a:srgbClr val="FF6B3D"/>
          </a:solidFill>
          <a:ln/>
          <a:effectLst>
            <a:outerShdw blurRad="38100" dir="60000" algn="bl" rotWithShape="0">
              <a:srgbClr val="FF6B3D">
                <a:alpha val="25000"/>
              </a:srgbClr>
            </a:outerShdw>
          </a:effectLst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0D10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886200" y="3340100"/>
            <a:ext cx="279400" cy="278805"/>
          </a:xfrm>
          <a:custGeom>
            <a:avLst/>
            <a:gdLst/>
            <a:ahLst/>
            <a:cxnLst/>
            <a:rect l="l" t="t" r="r" b="b"/>
            <a:pathLst>
              <a:path w="279400" h="278805">
                <a:moveTo>
                  <a:pt x="139402" y="0"/>
                </a:moveTo>
                <a:lnTo>
                  <a:pt x="139998" y="0"/>
                </a:lnTo>
                <a:arcTo wR="139402" hR="139402" stAng="16200000" swAng="5400000"/>
                <a:lnTo>
                  <a:pt x="279400" y="139402"/>
                </a:lnTo>
                <a:arcTo wR="139402" hR="139402" stAng="0" swAng="5400000"/>
                <a:lnTo>
                  <a:pt x="139402" y="278805"/>
                </a:lnTo>
                <a:arcTo wR="139402" hR="139402" stAng="5400000" swAng="5400000"/>
                <a:lnTo>
                  <a:pt x="0" y="139402"/>
                </a:lnTo>
                <a:arcTo wR="139402" hR="139402" stAng="10800000" swAng="5400000"/>
                <a:close/>
              </a:path>
            </a:pathLst>
          </a:custGeom>
          <a:solidFill>
            <a:srgbClr val="FF6B3D"/>
          </a:solidFill>
          <a:ln/>
          <a:effectLst>
            <a:outerShdw blurRad="38100" dir="60000" algn="bl" rotWithShape="0">
              <a:srgbClr val="FF6B3D">
                <a:alpha val="25000"/>
              </a:srgbClr>
            </a:outerShdw>
          </a:effectLst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0D10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841750" y="4114800"/>
            <a:ext cx="279400" cy="278805"/>
          </a:xfrm>
          <a:custGeom>
            <a:avLst/>
            <a:gdLst/>
            <a:ahLst/>
            <a:cxnLst/>
            <a:rect l="l" t="t" r="r" b="b"/>
            <a:pathLst>
              <a:path w="279400" h="278805">
                <a:moveTo>
                  <a:pt x="139402" y="0"/>
                </a:moveTo>
                <a:lnTo>
                  <a:pt x="139998" y="0"/>
                </a:lnTo>
                <a:arcTo wR="139402" hR="139402" stAng="16200000" swAng="5400000"/>
                <a:lnTo>
                  <a:pt x="279400" y="139402"/>
                </a:lnTo>
                <a:arcTo wR="139402" hR="139402" stAng="0" swAng="5400000"/>
                <a:lnTo>
                  <a:pt x="139402" y="278805"/>
                </a:lnTo>
                <a:arcTo wR="139402" hR="139402" stAng="5400000" swAng="5400000"/>
                <a:lnTo>
                  <a:pt x="0" y="139402"/>
                </a:lnTo>
                <a:arcTo wR="139402" hR="139402" stAng="10800000" swAng="5400000"/>
                <a:close/>
              </a:path>
            </a:pathLst>
          </a:custGeom>
          <a:solidFill>
            <a:srgbClr val="FF6B3D"/>
          </a:solidFill>
          <a:ln/>
          <a:effectLst>
            <a:outerShdw blurRad="38100" dir="60000" algn="bl" rotWithShape="0">
              <a:srgbClr val="FF6B3D">
                <a:alpha val="25000"/>
              </a:srgbClr>
            </a:outerShdw>
          </a:effectLst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0D10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594100" y="4743450"/>
            <a:ext cx="279400" cy="278805"/>
          </a:xfrm>
          <a:custGeom>
            <a:avLst/>
            <a:gdLst/>
            <a:ahLst/>
            <a:cxnLst/>
            <a:rect l="l" t="t" r="r" b="b"/>
            <a:pathLst>
              <a:path w="279400" h="278805">
                <a:moveTo>
                  <a:pt x="139402" y="0"/>
                </a:moveTo>
                <a:lnTo>
                  <a:pt x="139998" y="0"/>
                </a:lnTo>
                <a:arcTo wR="139402" hR="139402" stAng="16200000" swAng="5400000"/>
                <a:lnTo>
                  <a:pt x="279400" y="139402"/>
                </a:lnTo>
                <a:arcTo wR="139402" hR="139402" stAng="0" swAng="5400000"/>
                <a:lnTo>
                  <a:pt x="139402" y="278805"/>
                </a:lnTo>
                <a:arcTo wR="139402" hR="139402" stAng="5400000" swAng="5400000"/>
                <a:lnTo>
                  <a:pt x="0" y="139402"/>
                </a:lnTo>
                <a:arcTo wR="139402" hR="139402" stAng="10800000" swAng="5400000"/>
                <a:close/>
              </a:path>
            </a:pathLst>
          </a:custGeom>
          <a:solidFill>
            <a:srgbClr val="FF6B3D"/>
          </a:solidFill>
          <a:ln/>
          <a:effectLst>
            <a:outerShdw blurRad="38100" dir="60000" algn="bl" rotWithShape="0">
              <a:srgbClr val="FF6B3D">
                <a:alpha val="25000"/>
              </a:srgbClr>
            </a:outerShdw>
          </a:effectLst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0D10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057400" y="3943350"/>
            <a:ext cx="279400" cy="278805"/>
          </a:xfrm>
          <a:custGeom>
            <a:avLst/>
            <a:gdLst/>
            <a:ahLst/>
            <a:cxnLst/>
            <a:rect l="l" t="t" r="r" b="b"/>
            <a:pathLst>
              <a:path w="279400" h="278805">
                <a:moveTo>
                  <a:pt x="139402" y="0"/>
                </a:moveTo>
                <a:lnTo>
                  <a:pt x="139998" y="0"/>
                </a:lnTo>
                <a:arcTo wR="139402" hR="139402" stAng="16200000" swAng="5400000"/>
                <a:lnTo>
                  <a:pt x="279400" y="139402"/>
                </a:lnTo>
                <a:arcTo wR="139402" hR="139402" stAng="0" swAng="5400000"/>
                <a:lnTo>
                  <a:pt x="139402" y="278805"/>
                </a:lnTo>
                <a:arcTo wR="139402" hR="139402" stAng="5400000" swAng="5400000"/>
                <a:lnTo>
                  <a:pt x="0" y="139402"/>
                </a:lnTo>
                <a:arcTo wR="139402" hR="139402" stAng="10800000" swAng="5400000"/>
                <a:close/>
              </a:path>
            </a:pathLst>
          </a:custGeom>
          <a:solidFill>
            <a:srgbClr val="FF6B3D"/>
          </a:solidFill>
          <a:ln/>
          <a:effectLst>
            <a:outerShdw blurRad="38100" dir="60000" algn="bl" rotWithShape="0">
              <a:srgbClr val="FF6B3D">
                <a:alpha val="25000"/>
              </a:srgbClr>
            </a:outerShdw>
          </a:effectLst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0D10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270500" y="4737100"/>
            <a:ext cx="279400" cy="278805"/>
          </a:xfrm>
          <a:custGeom>
            <a:avLst/>
            <a:gdLst/>
            <a:ahLst/>
            <a:cxnLst/>
            <a:rect l="l" t="t" r="r" b="b"/>
            <a:pathLst>
              <a:path w="279400" h="278805">
                <a:moveTo>
                  <a:pt x="139402" y="0"/>
                </a:moveTo>
                <a:lnTo>
                  <a:pt x="139998" y="0"/>
                </a:lnTo>
                <a:arcTo wR="139402" hR="139402" stAng="16200000" swAng="5400000"/>
                <a:lnTo>
                  <a:pt x="279400" y="139402"/>
                </a:lnTo>
                <a:arcTo wR="139402" hR="139402" stAng="0" swAng="5400000"/>
                <a:lnTo>
                  <a:pt x="139402" y="278805"/>
                </a:lnTo>
                <a:arcTo wR="139402" hR="139402" stAng="5400000" swAng="5400000"/>
                <a:lnTo>
                  <a:pt x="0" y="139402"/>
                </a:lnTo>
                <a:arcTo wR="139402" hR="139402" stAng="10800000" swAng="5400000"/>
                <a:close/>
              </a:path>
            </a:pathLst>
          </a:custGeom>
          <a:solidFill>
            <a:srgbClr val="FF6B3D"/>
          </a:solidFill>
          <a:ln/>
          <a:effectLst>
            <a:outerShdw blurRad="38100" dir="60000" algn="bl" rotWithShape="0">
              <a:srgbClr val="FF6B3D">
                <a:alpha val="25000"/>
              </a:srgbClr>
            </a:outerShdw>
          </a:effectLst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0D10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572000" y="4552950"/>
            <a:ext cx="279400" cy="278805"/>
          </a:xfrm>
          <a:custGeom>
            <a:avLst/>
            <a:gdLst/>
            <a:ahLst/>
            <a:cxnLst/>
            <a:rect l="l" t="t" r="r" b="b"/>
            <a:pathLst>
              <a:path w="279400" h="278805">
                <a:moveTo>
                  <a:pt x="139402" y="0"/>
                </a:moveTo>
                <a:lnTo>
                  <a:pt x="139998" y="0"/>
                </a:lnTo>
                <a:arcTo wR="139402" hR="139402" stAng="16200000" swAng="5400000"/>
                <a:lnTo>
                  <a:pt x="279400" y="139402"/>
                </a:lnTo>
                <a:arcTo wR="139402" hR="139402" stAng="0" swAng="5400000"/>
                <a:lnTo>
                  <a:pt x="139402" y="278805"/>
                </a:lnTo>
                <a:arcTo wR="139402" hR="139402" stAng="5400000" swAng="5400000"/>
                <a:lnTo>
                  <a:pt x="0" y="139402"/>
                </a:lnTo>
                <a:arcTo wR="139402" hR="139402" stAng="10800000" swAng="5400000"/>
                <a:close/>
              </a:path>
            </a:pathLst>
          </a:custGeom>
          <a:solidFill>
            <a:srgbClr val="FF6B3D"/>
          </a:solidFill>
          <a:ln/>
          <a:effectLst>
            <a:outerShdw blurRad="38100" dir="60000" algn="bl" rotWithShape="0">
              <a:srgbClr val="FF6B3D">
                <a:alpha val="25000"/>
              </a:srgbClr>
            </a:outerShdw>
          </a:effectLst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96"/>
              </a:lnSpc>
              <a:buNone/>
            </a:pPr>
            <a:r>
              <a:rPr lang="en-US" sz="1200" b="1" dirty="0">
                <a:solidFill>
                  <a:srgbClr val="0D10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061200" y="1825030"/>
            <a:ext cx="3556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F6B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518400" y="1816100"/>
            <a:ext cx="256643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EF1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Burkolat és ventilátor (EDF)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7061200" y="2200275"/>
            <a:ext cx="4318000" cy="0"/>
          </a:xfrm>
          <a:prstGeom prst="line">
            <a:avLst/>
          </a:prstGeom>
          <a:noFill/>
          <a:ln w="6350">
            <a:solidFill>
              <a:srgbClr val="2A31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8" name="Text 14"/>
          <p:cNvSpPr/>
          <p:nvPr/>
        </p:nvSpPr>
        <p:spPr>
          <a:xfrm>
            <a:off x="7061200" y="2326680"/>
            <a:ext cx="3556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F6B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7518400" y="2317750"/>
            <a:ext cx="28642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EF1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Forgó mikroszálas törlőhenger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7061200" y="2701925"/>
            <a:ext cx="4318000" cy="0"/>
          </a:xfrm>
          <a:prstGeom prst="line">
            <a:avLst/>
          </a:prstGeom>
          <a:noFill/>
          <a:ln w="6350">
            <a:solidFill>
              <a:srgbClr val="2A31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1" name="Text 17"/>
          <p:cNvSpPr/>
          <p:nvPr/>
        </p:nvSpPr>
        <p:spPr>
          <a:xfrm>
            <a:off x="7061200" y="2828330"/>
            <a:ext cx="3556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F6B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7518400" y="2819400"/>
            <a:ext cx="32576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EF1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Elektronika: ESP, ESC, motorvezérlő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7061200" y="3203575"/>
            <a:ext cx="4318000" cy="0"/>
          </a:xfrm>
          <a:prstGeom prst="line">
            <a:avLst/>
          </a:prstGeom>
          <a:noFill/>
          <a:ln w="6350">
            <a:solidFill>
              <a:srgbClr val="2A31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4" name="Text 20"/>
          <p:cNvSpPr/>
          <p:nvPr/>
        </p:nvSpPr>
        <p:spPr>
          <a:xfrm>
            <a:off x="7061200" y="3329980"/>
            <a:ext cx="3556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F6B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7518400" y="3321050"/>
            <a:ext cx="214211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EF1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Nyomtatott PETG alváz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7061200" y="3705225"/>
            <a:ext cx="4318000" cy="0"/>
          </a:xfrm>
          <a:prstGeom prst="line">
            <a:avLst/>
          </a:prstGeom>
          <a:noFill/>
          <a:ln w="6350">
            <a:solidFill>
              <a:srgbClr val="2A31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7" name="Text 23"/>
          <p:cNvSpPr/>
          <p:nvPr/>
        </p:nvSpPr>
        <p:spPr>
          <a:xfrm>
            <a:off x="7061200" y="3831630"/>
            <a:ext cx="3556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F6B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7518400" y="3822700"/>
            <a:ext cx="206342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EF1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Tömítőszivacs, 1,2 mm</a:t>
            </a:r>
            <a:endParaRPr lang="en-US" sz="1500" dirty="0"/>
          </a:p>
        </p:txBody>
      </p:sp>
      <p:sp>
        <p:nvSpPr>
          <p:cNvPr id="29" name="Shape 25"/>
          <p:cNvSpPr/>
          <p:nvPr/>
        </p:nvSpPr>
        <p:spPr>
          <a:xfrm>
            <a:off x="7061200" y="4206875"/>
            <a:ext cx="4318000" cy="0"/>
          </a:xfrm>
          <a:prstGeom prst="line">
            <a:avLst/>
          </a:prstGeom>
          <a:noFill/>
          <a:ln w="6350">
            <a:solidFill>
              <a:srgbClr val="2A31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0" name="Text 26"/>
          <p:cNvSpPr/>
          <p:nvPr/>
        </p:nvSpPr>
        <p:spPr>
          <a:xfrm>
            <a:off x="7061200" y="4333280"/>
            <a:ext cx="3556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F6B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7518400" y="4324350"/>
            <a:ext cx="220803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EF1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 szilikonkerék, 4 motor</a:t>
            </a:r>
            <a:endParaRPr lang="en-US" sz="1500" dirty="0"/>
          </a:p>
        </p:txBody>
      </p:sp>
      <p:sp>
        <p:nvSpPr>
          <p:cNvPr id="32" name="Shape 28"/>
          <p:cNvSpPr/>
          <p:nvPr/>
        </p:nvSpPr>
        <p:spPr>
          <a:xfrm>
            <a:off x="7061200" y="4708525"/>
            <a:ext cx="4318000" cy="0"/>
          </a:xfrm>
          <a:prstGeom prst="line">
            <a:avLst/>
          </a:prstGeom>
          <a:noFill/>
          <a:ln w="6350">
            <a:solidFill>
              <a:srgbClr val="2A31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3" name="Text 29"/>
          <p:cNvSpPr/>
          <p:nvPr/>
        </p:nvSpPr>
        <p:spPr>
          <a:xfrm>
            <a:off x="7061200" y="4834930"/>
            <a:ext cx="3556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F6B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400" dirty="0"/>
          </a:p>
        </p:txBody>
      </p:sp>
      <p:sp>
        <p:nvSpPr>
          <p:cNvPr id="34" name="Text 30"/>
          <p:cNvSpPr/>
          <p:nvPr/>
        </p:nvSpPr>
        <p:spPr>
          <a:xfrm>
            <a:off x="7518400" y="4826000"/>
            <a:ext cx="225831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EF1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 optikai peremérzékelő</a:t>
            </a:r>
            <a:endParaRPr lang="en-US" sz="1500" dirty="0"/>
          </a:p>
        </p:txBody>
      </p:sp>
      <p:sp>
        <p:nvSpPr>
          <p:cNvPr id="35" name="Shape 31"/>
          <p:cNvSpPr/>
          <p:nvPr/>
        </p:nvSpPr>
        <p:spPr>
          <a:xfrm>
            <a:off x="7061200" y="5210175"/>
            <a:ext cx="4318000" cy="0"/>
          </a:xfrm>
          <a:prstGeom prst="line">
            <a:avLst/>
          </a:prstGeom>
          <a:noFill/>
          <a:ln w="6350">
            <a:solidFill>
              <a:srgbClr val="2A31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6" name="Text 32"/>
          <p:cNvSpPr/>
          <p:nvPr/>
        </p:nvSpPr>
        <p:spPr>
          <a:xfrm>
            <a:off x="7061200" y="5336580"/>
            <a:ext cx="3556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F6B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1400" dirty="0"/>
          </a:p>
        </p:txBody>
      </p:sp>
      <p:sp>
        <p:nvSpPr>
          <p:cNvPr id="37" name="Text 33"/>
          <p:cNvSpPr/>
          <p:nvPr/>
        </p:nvSpPr>
        <p:spPr>
          <a:xfrm>
            <a:off x="7518400" y="5327650"/>
            <a:ext cx="147280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EF1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Töltőérintkezők</a:t>
            </a:r>
            <a:endParaRPr lang="en-US" sz="1500" dirty="0"/>
          </a:p>
        </p:txBody>
      </p:sp>
      <p:sp>
        <p:nvSpPr>
          <p:cNvPr id="38" name="Text 34"/>
          <p:cNvSpPr/>
          <p:nvPr/>
        </p:nvSpPr>
        <p:spPr>
          <a:xfrm>
            <a:off x="812800" y="6238280"/>
            <a:ext cx="268160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9AA3A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VÁKUUMOS TÁBLATÖRLŐ ROBOT</a:t>
            </a:r>
            <a:endParaRPr lang="en-US" sz="1200" dirty="0"/>
          </a:p>
        </p:txBody>
      </p:sp>
      <p:sp>
        <p:nvSpPr>
          <p:cNvPr id="39" name="Text 35"/>
          <p:cNvSpPr/>
          <p:nvPr/>
        </p:nvSpPr>
        <p:spPr>
          <a:xfrm>
            <a:off x="10739041" y="6238280"/>
            <a:ext cx="6909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F6B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r>
              <a:rPr lang="en-US" sz="1200" dirty="0">
                <a:solidFill>
                  <a:srgbClr val="9AA3A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09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FF6B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— A TÖRLÉS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EEF1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Forgó mikroszál, ami csúszva dörzsöl</a:t>
            </a:r>
            <a:endParaRPr lang="en-US" sz="3200" dirty="0"/>
          </a:p>
        </p:txBody>
      </p:sp>
      <p:pic>
        <p:nvPicPr>
          <p:cNvPr id="5" name="Image 1" descr="A törlőhenger: a haladással szemben forog, a huzat csúszik a táblán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2800" y="1727200"/>
            <a:ext cx="5715000" cy="3556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39800" y="2616200"/>
            <a:ext cx="170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EF1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haladás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241800" y="4013200"/>
            <a:ext cx="215836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FB3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huzat csúszik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2362200" y="2108200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FF6B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≈ 300 1/perc, szembe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12800" y="483870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3A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TÁBLA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2882900" y="483870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EEF1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5,2 mm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073900" y="1854200"/>
            <a:ext cx="0" cy="817761"/>
          </a:xfrm>
          <a:prstGeom prst="line">
            <a:avLst/>
          </a:prstGeom>
          <a:noFill/>
          <a:ln w="25400">
            <a:solidFill>
              <a:srgbClr val="FF6B3D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Text 8"/>
          <p:cNvSpPr/>
          <p:nvPr/>
        </p:nvSpPr>
        <p:spPr>
          <a:xfrm>
            <a:off x="7264400" y="1879600"/>
            <a:ext cx="4238244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dirty="0">
                <a:solidFill>
                  <a:srgbClr val="FF6B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2,3 kPa</a:t>
            </a:r>
            <a:endParaRPr lang="en-US" sz="3600" dirty="0"/>
          </a:p>
        </p:txBody>
      </p:sp>
      <p:sp>
        <p:nvSpPr>
          <p:cNvPr id="13" name="Text 9"/>
          <p:cNvSpPr/>
          <p:nvPr/>
        </p:nvSpPr>
        <p:spPr>
          <a:xfrm>
            <a:off x="7264400" y="2397720"/>
            <a:ext cx="423824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9AA3A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átlagos rányomás a huzaton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073900" y="2849761"/>
            <a:ext cx="0" cy="817761"/>
          </a:xfrm>
          <a:prstGeom prst="line">
            <a:avLst/>
          </a:prstGeom>
          <a:noFill/>
          <a:ln w="25400">
            <a:solidFill>
              <a:srgbClr val="2A31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Text 11"/>
          <p:cNvSpPr/>
          <p:nvPr/>
        </p:nvSpPr>
        <p:spPr>
          <a:xfrm>
            <a:off x="7264400" y="2875161"/>
            <a:ext cx="4238244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dirty="0">
                <a:solidFill>
                  <a:srgbClr val="EEF1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mm</a:t>
            </a:r>
            <a:endParaRPr lang="en-US" sz="3600" dirty="0"/>
          </a:p>
        </p:txBody>
      </p:sp>
      <p:sp>
        <p:nvSpPr>
          <p:cNvPr id="16" name="Text 12"/>
          <p:cNvSpPr/>
          <p:nvPr/>
        </p:nvSpPr>
        <p:spPr>
          <a:xfrm>
            <a:off x="7264400" y="3393281"/>
            <a:ext cx="423824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9AA3A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mikroszál dörzsöl át minden pontot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7073900" y="3845322"/>
            <a:ext cx="0" cy="817761"/>
          </a:xfrm>
          <a:prstGeom prst="line">
            <a:avLst/>
          </a:prstGeom>
          <a:noFill/>
          <a:ln w="25400">
            <a:solidFill>
              <a:srgbClr val="2A31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8" name="Text 14"/>
          <p:cNvSpPr/>
          <p:nvPr/>
        </p:nvSpPr>
        <p:spPr>
          <a:xfrm>
            <a:off x="7264400" y="3870722"/>
            <a:ext cx="4238244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dirty="0">
                <a:solidFill>
                  <a:srgbClr val="EEF1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116 mm</a:t>
            </a:r>
            <a:endParaRPr lang="en-US" sz="3600" dirty="0"/>
          </a:p>
        </p:txBody>
      </p:sp>
      <p:sp>
        <p:nvSpPr>
          <p:cNvPr id="19" name="Text 15"/>
          <p:cNvSpPr/>
          <p:nvPr/>
        </p:nvSpPr>
        <p:spPr>
          <a:xfrm>
            <a:off x="7264400" y="4388842"/>
            <a:ext cx="423824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9AA3A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széles nyomot töröl egyszerre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812800" y="6238280"/>
            <a:ext cx="268160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9AA3A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VÁKUUMOS TÁBLATÖRLŐ ROBOT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10739041" y="6238280"/>
            <a:ext cx="6909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F6B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r>
              <a:rPr lang="en-US" sz="1200" dirty="0">
                <a:solidFill>
                  <a:srgbClr val="9AA3A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09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FF6B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— TÖRLÉSI TELJESÍTMÉNY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EEF1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Ott töröl, ahová a kezelő vezeti</a:t>
            </a:r>
            <a:endParaRPr lang="en-US" sz="3200" dirty="0"/>
          </a:p>
        </p:txBody>
      </p:sp>
      <p:pic>
        <p:nvPicPr>
          <p:cNvPr id="5" name="Image 1" descr="A kezelő által vezetett szabad törlési útvonal a táblán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2800" y="1727200"/>
            <a:ext cx="6350000" cy="4064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632700" y="1854200"/>
            <a:ext cx="0" cy="708521"/>
          </a:xfrm>
          <a:prstGeom prst="line">
            <a:avLst/>
          </a:prstGeom>
          <a:noFill/>
          <a:ln w="25400">
            <a:solidFill>
              <a:srgbClr val="FF6B3D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 3"/>
          <p:cNvSpPr/>
          <p:nvPr/>
        </p:nvSpPr>
        <p:spPr>
          <a:xfrm>
            <a:off x="7823200" y="1866900"/>
            <a:ext cx="366268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FF6B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≈ 2,4 m²</a:t>
            </a:r>
            <a:endParaRPr lang="en-US" sz="3200" dirty="0"/>
          </a:p>
        </p:txBody>
      </p:sp>
      <p:sp>
        <p:nvSpPr>
          <p:cNvPr id="8" name="Text 4"/>
          <p:cNvSpPr/>
          <p:nvPr/>
        </p:nvSpPr>
        <p:spPr>
          <a:xfrm>
            <a:off x="7823200" y="2318941"/>
            <a:ext cx="366268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9AA3A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letörölt felület egy töltéssel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7632700" y="2740521"/>
            <a:ext cx="0" cy="708521"/>
          </a:xfrm>
          <a:prstGeom prst="line">
            <a:avLst/>
          </a:prstGeom>
          <a:noFill/>
          <a:ln w="25400">
            <a:solidFill>
              <a:srgbClr val="2A31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Text 6"/>
          <p:cNvSpPr/>
          <p:nvPr/>
        </p:nvSpPr>
        <p:spPr>
          <a:xfrm>
            <a:off x="7823200" y="2753221"/>
            <a:ext cx="366268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EEF1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115 s</a:t>
            </a:r>
            <a:endParaRPr lang="en-US" sz="3200" dirty="0"/>
          </a:p>
        </p:txBody>
      </p:sp>
      <p:sp>
        <p:nvSpPr>
          <p:cNvPr id="11" name="Text 7"/>
          <p:cNvSpPr/>
          <p:nvPr/>
        </p:nvSpPr>
        <p:spPr>
          <a:xfrm>
            <a:off x="7823200" y="3205262"/>
            <a:ext cx="366268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9AA3A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egy 180 × 120 cm-es tábla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632700" y="3626842"/>
            <a:ext cx="0" cy="708521"/>
          </a:xfrm>
          <a:prstGeom prst="line">
            <a:avLst/>
          </a:prstGeom>
          <a:noFill/>
          <a:ln w="25400">
            <a:solidFill>
              <a:srgbClr val="2A31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" name="Text 9"/>
          <p:cNvSpPr/>
          <p:nvPr/>
        </p:nvSpPr>
        <p:spPr>
          <a:xfrm>
            <a:off x="7823200" y="3639542"/>
            <a:ext cx="366268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EEF1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22 mm</a:t>
            </a:r>
            <a:endParaRPr lang="en-US" sz="3200" dirty="0"/>
          </a:p>
        </p:txBody>
      </p:sp>
      <p:sp>
        <p:nvSpPr>
          <p:cNvPr id="14" name="Text 10"/>
          <p:cNvSpPr/>
          <p:nvPr/>
        </p:nvSpPr>
        <p:spPr>
          <a:xfrm>
            <a:off x="7823200" y="4091583"/>
            <a:ext cx="366268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9AA3A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dörzsölés pontonként lassú fokozatban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812800" y="6238280"/>
            <a:ext cx="268160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9AA3A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VÁKUUMOS TÁBLATÖRLŐ ROBOT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0739041" y="6238280"/>
            <a:ext cx="6909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F6B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r>
              <a:rPr lang="en-US" sz="1200" dirty="0">
                <a:solidFill>
                  <a:srgbClr val="9AA3A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09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FF6B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— A TAPADÁS ELVE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EEF1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Vékony rés, nagy leszorító erő</a:t>
            </a:r>
            <a:endParaRPr lang="en-US" sz="3200" dirty="0"/>
          </a:p>
        </p:txBody>
      </p:sp>
      <p:pic>
        <p:nvPicPr>
          <p:cNvPr id="5" name="Image 1" descr="Keresztmetszet: a vékony résben a nyomás a robotot a táblához nyomja"/>
          <p:cNvPicPr>
            <a:picLocks noChangeAspect="1"/>
          </p:cNvPicPr>
          <p:nvPr/>
        </p:nvPicPr>
        <p:blipFill>
          <a:blip r:embed="rId4"/>
          <a:srcRect t="-31" b="-31"/>
          <a:stretch/>
        </p:blipFill>
        <p:spPr>
          <a:xfrm>
            <a:off x="812800" y="1905000"/>
            <a:ext cx="10566400" cy="2540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27800" y="228600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EF1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ventilátor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527800" y="1905000"/>
            <a:ext cx="23545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3A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↑ kifújt levegő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422400" y="2654300"/>
            <a:ext cx="138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F6B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leszorító erő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12800" y="426720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3A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TÁBLA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825500" y="4826000"/>
            <a:ext cx="0" cy="716161"/>
          </a:xfrm>
          <a:prstGeom prst="line">
            <a:avLst/>
          </a:prstGeom>
          <a:noFill/>
          <a:ln w="25400">
            <a:solidFill>
              <a:srgbClr val="FF6B3D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7"/>
          <p:cNvSpPr/>
          <p:nvPr/>
        </p:nvSpPr>
        <p:spPr>
          <a:xfrm>
            <a:off x="1016000" y="4826000"/>
            <a:ext cx="512775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F6B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0,36 mm</a:t>
            </a:r>
            <a:endParaRPr lang="en-US" sz="3200" dirty="0"/>
          </a:p>
        </p:txBody>
      </p:sp>
      <p:sp>
        <p:nvSpPr>
          <p:cNvPr id="12" name="Text 8"/>
          <p:cNvSpPr/>
          <p:nvPr/>
        </p:nvSpPr>
        <p:spPr>
          <a:xfrm>
            <a:off x="1016000" y="5311080"/>
            <a:ext cx="512775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9AA3A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rés a szivacs alatt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10300" y="4826000"/>
            <a:ext cx="0" cy="716161"/>
          </a:xfrm>
          <a:prstGeom prst="line">
            <a:avLst/>
          </a:prstGeom>
          <a:noFill/>
          <a:ln w="25400">
            <a:solidFill>
              <a:srgbClr val="FF6B3D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Text 10"/>
          <p:cNvSpPr/>
          <p:nvPr/>
        </p:nvSpPr>
        <p:spPr>
          <a:xfrm>
            <a:off x="6400800" y="4826000"/>
            <a:ext cx="512775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F6B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16,8 N</a:t>
            </a:r>
            <a:endParaRPr lang="en-US" sz="3200" dirty="0"/>
          </a:p>
        </p:txBody>
      </p:sp>
      <p:sp>
        <p:nvSpPr>
          <p:cNvPr id="15" name="Text 11"/>
          <p:cNvSpPr/>
          <p:nvPr/>
        </p:nvSpPr>
        <p:spPr>
          <a:xfrm>
            <a:off x="6400800" y="5311080"/>
            <a:ext cx="512775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9AA3A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leszorító erő, ennek 92 %-a a kerekeken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812800" y="6238280"/>
            <a:ext cx="268160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9AA3A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VÁKUUMOS TÁBLATÖRLŐ ROBOT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0739041" y="6238280"/>
            <a:ext cx="6909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F6B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r>
              <a:rPr lang="en-US" sz="1200" dirty="0">
                <a:solidFill>
                  <a:srgbClr val="9AA3A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09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FF6B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— SZÁMÍTÁS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EEF1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Biztonsággal a falon</a:t>
            </a:r>
            <a:endParaRPr lang="en-US" sz="3200" dirty="0"/>
          </a:p>
        </p:txBody>
      </p:sp>
      <p:pic>
        <p:nvPicPr>
          <p:cNvPr id="5" name="Image 1" descr="Erők a táblán felfelé haladó robotra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2800" y="1727200"/>
            <a:ext cx="3810000" cy="4064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971800" y="3314700"/>
            <a:ext cx="170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F6B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 = 16,8 N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2019300" y="445770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EF1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m·g = 5,1 N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384300" y="5473700"/>
            <a:ext cx="261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FB3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kerekek tapadása ↑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337175" y="1730375"/>
            <a:ext cx="6038850" cy="958850"/>
          </a:xfrm>
          <a:prstGeom prst="roundRect">
            <a:avLst>
              <a:gd name="adj" fmla="val 15563"/>
            </a:avLst>
          </a:prstGeom>
          <a:solidFill>
            <a:srgbClr val="191E25"/>
          </a:solidFill>
          <a:ln w="6350">
            <a:solidFill>
              <a:srgbClr val="2A31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Text 6"/>
          <p:cNvSpPr/>
          <p:nvPr/>
        </p:nvSpPr>
        <p:spPr>
          <a:xfrm>
            <a:off x="5568950" y="1911350"/>
            <a:ext cx="1422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6B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2,12×</a:t>
            </a:r>
            <a:endParaRPr lang="en-US" sz="3600" dirty="0"/>
          </a:p>
        </p:txBody>
      </p:sp>
      <p:sp>
        <p:nvSpPr>
          <p:cNvPr id="11" name="Text 7"/>
          <p:cNvSpPr/>
          <p:nvPr/>
        </p:nvSpPr>
        <p:spPr>
          <a:xfrm>
            <a:off x="7118350" y="2101850"/>
            <a:ext cx="330417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EF1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álló helyzet – nem csúszik le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0504091" y="2139950"/>
            <a:ext cx="6909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3A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cél ≥ 2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568950" y="2457450"/>
            <a:ext cx="5575300" cy="50800"/>
          </a:xfrm>
          <a:prstGeom prst="roundRect">
            <a:avLst>
              <a:gd name="adj" fmla="val 50000"/>
            </a:avLst>
          </a:prstGeom>
          <a:solidFill>
            <a:srgbClr val="2A313B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4" name="Shape 10"/>
          <p:cNvSpPr/>
          <p:nvPr/>
        </p:nvSpPr>
        <p:spPr>
          <a:xfrm>
            <a:off x="5568950" y="2457450"/>
            <a:ext cx="3943350" cy="50800"/>
          </a:xfrm>
          <a:prstGeom prst="roundRect">
            <a:avLst>
              <a:gd name="adj" fmla="val 50000"/>
            </a:avLst>
          </a:prstGeom>
          <a:solidFill>
            <a:srgbClr val="FF6B3D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5" name="Shape 11"/>
          <p:cNvSpPr/>
          <p:nvPr/>
        </p:nvSpPr>
        <p:spPr>
          <a:xfrm>
            <a:off x="5337175" y="2847975"/>
            <a:ext cx="6038850" cy="958850"/>
          </a:xfrm>
          <a:prstGeom prst="roundRect">
            <a:avLst>
              <a:gd name="adj" fmla="val 15563"/>
            </a:avLst>
          </a:prstGeom>
          <a:solidFill>
            <a:srgbClr val="191E25"/>
          </a:solidFill>
          <a:ln w="6350">
            <a:solidFill>
              <a:srgbClr val="2A31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" name="Text 12"/>
          <p:cNvSpPr/>
          <p:nvPr/>
        </p:nvSpPr>
        <p:spPr>
          <a:xfrm>
            <a:off x="5568950" y="3028950"/>
            <a:ext cx="1422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6B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1,77×</a:t>
            </a:r>
            <a:endParaRPr lang="en-US" sz="3600" dirty="0"/>
          </a:p>
        </p:txBody>
      </p:sp>
      <p:sp>
        <p:nvSpPr>
          <p:cNvPr id="17" name="Text 13"/>
          <p:cNvSpPr/>
          <p:nvPr/>
        </p:nvSpPr>
        <p:spPr>
          <a:xfrm>
            <a:off x="7118350" y="3219450"/>
            <a:ext cx="311583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EF1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felfelé haladás – nem pörög ki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0321230" y="3257550"/>
            <a:ext cx="8738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3A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cél ≥ 1,5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568950" y="3575050"/>
            <a:ext cx="5575300" cy="50800"/>
          </a:xfrm>
          <a:prstGeom prst="roundRect">
            <a:avLst>
              <a:gd name="adj" fmla="val 50000"/>
            </a:avLst>
          </a:prstGeom>
          <a:solidFill>
            <a:srgbClr val="2A313B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20" name="Shape 16"/>
          <p:cNvSpPr/>
          <p:nvPr/>
        </p:nvSpPr>
        <p:spPr>
          <a:xfrm>
            <a:off x="5568950" y="3575050"/>
            <a:ext cx="3295650" cy="50800"/>
          </a:xfrm>
          <a:prstGeom prst="roundRect">
            <a:avLst>
              <a:gd name="adj" fmla="val 50000"/>
            </a:avLst>
          </a:prstGeom>
          <a:solidFill>
            <a:srgbClr val="FF6B3D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21" name="Shape 17"/>
          <p:cNvSpPr/>
          <p:nvPr/>
        </p:nvSpPr>
        <p:spPr>
          <a:xfrm>
            <a:off x="5337175" y="3965575"/>
            <a:ext cx="6038850" cy="958850"/>
          </a:xfrm>
          <a:prstGeom prst="roundRect">
            <a:avLst>
              <a:gd name="adj" fmla="val 15563"/>
            </a:avLst>
          </a:prstGeom>
          <a:solidFill>
            <a:srgbClr val="191E25"/>
          </a:solidFill>
          <a:ln w="6350">
            <a:solidFill>
              <a:srgbClr val="2A31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2" name="Text 18"/>
          <p:cNvSpPr/>
          <p:nvPr/>
        </p:nvSpPr>
        <p:spPr>
          <a:xfrm>
            <a:off x="5568950" y="4146550"/>
            <a:ext cx="1422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6B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12,8×</a:t>
            </a:r>
            <a:endParaRPr lang="en-US" sz="3600" dirty="0"/>
          </a:p>
        </p:txBody>
      </p:sp>
      <p:sp>
        <p:nvSpPr>
          <p:cNvPr id="23" name="Text 19"/>
          <p:cNvSpPr/>
          <p:nvPr/>
        </p:nvSpPr>
        <p:spPr>
          <a:xfrm>
            <a:off x="7118350" y="4337050"/>
            <a:ext cx="330417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EF1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billenés – nem válik el a táblától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10504091" y="4375150"/>
            <a:ext cx="6909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3A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cél ≥ 3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5568950" y="4692650"/>
            <a:ext cx="5575300" cy="50800"/>
          </a:xfrm>
          <a:prstGeom prst="roundRect">
            <a:avLst>
              <a:gd name="adj" fmla="val 50000"/>
            </a:avLst>
          </a:prstGeom>
          <a:solidFill>
            <a:srgbClr val="2A313B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26" name="Shape 22"/>
          <p:cNvSpPr/>
          <p:nvPr/>
        </p:nvSpPr>
        <p:spPr>
          <a:xfrm>
            <a:off x="5568950" y="4692650"/>
            <a:ext cx="5588000" cy="50800"/>
          </a:xfrm>
          <a:prstGeom prst="roundRect">
            <a:avLst>
              <a:gd name="adj" fmla="val 50000"/>
            </a:avLst>
          </a:prstGeom>
          <a:solidFill>
            <a:srgbClr val="FF6B3D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27" name="Text 23"/>
          <p:cNvSpPr/>
          <p:nvPr/>
        </p:nvSpPr>
        <p:spPr>
          <a:xfrm>
            <a:off x="812800" y="6238280"/>
            <a:ext cx="268160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9AA3A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VÁKUUMOS TÁBLATÖRLŐ ROBOT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10739041" y="6238280"/>
            <a:ext cx="6909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F6B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r>
              <a:rPr lang="en-US" sz="1200" dirty="0">
                <a:solidFill>
                  <a:srgbClr val="9AA3A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09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FF6B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— ÖSSZEGZÉS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EEF1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robot számokban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15975" y="1857276"/>
            <a:ext cx="3397250" cy="1604070"/>
          </a:xfrm>
          <a:prstGeom prst="roundRect">
            <a:avLst>
              <a:gd name="adj" fmla="val 10886"/>
            </a:avLst>
          </a:prstGeom>
          <a:solidFill>
            <a:srgbClr val="FF6B3D"/>
          </a:solidFill>
          <a:ln w="6350">
            <a:solidFill>
              <a:srgbClr val="FF6B3D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3"/>
          <p:cNvSpPr/>
          <p:nvPr/>
        </p:nvSpPr>
        <p:spPr>
          <a:xfrm>
            <a:off x="1073150" y="2434630"/>
            <a:ext cx="2969387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D10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116 mm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073150" y="2955330"/>
            <a:ext cx="296938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0D10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törlősáv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97375" y="1857276"/>
            <a:ext cx="3397250" cy="1604070"/>
          </a:xfrm>
          <a:prstGeom prst="roundRect">
            <a:avLst>
              <a:gd name="adj" fmla="val 10886"/>
            </a:avLst>
          </a:prstGeom>
          <a:solidFill>
            <a:srgbClr val="FF6B3D"/>
          </a:solidFill>
          <a:ln w="6350">
            <a:solidFill>
              <a:srgbClr val="FF6B3D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6"/>
          <p:cNvSpPr/>
          <p:nvPr/>
        </p:nvSpPr>
        <p:spPr>
          <a:xfrm>
            <a:off x="4654550" y="2434630"/>
            <a:ext cx="2969387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D10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≈ 2,4 m²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4654550" y="2955330"/>
            <a:ext cx="296938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0D101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letörölt tábla egy töltéssel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978775" y="1857276"/>
            <a:ext cx="3397250" cy="1604070"/>
          </a:xfrm>
          <a:prstGeom prst="roundRect">
            <a:avLst>
              <a:gd name="adj" fmla="val 10886"/>
            </a:avLst>
          </a:prstGeom>
          <a:solidFill>
            <a:srgbClr val="191E25"/>
          </a:solidFill>
          <a:ln w="6350">
            <a:solidFill>
              <a:srgbClr val="2A31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Text 9"/>
          <p:cNvSpPr/>
          <p:nvPr/>
        </p:nvSpPr>
        <p:spPr>
          <a:xfrm>
            <a:off x="8235950" y="2434630"/>
            <a:ext cx="2969387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EEF1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2,3 kPa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8235950" y="2955330"/>
            <a:ext cx="296938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9AA3A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rányomás a törlőhengeren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15975" y="3645495"/>
            <a:ext cx="3397250" cy="1604070"/>
          </a:xfrm>
          <a:prstGeom prst="roundRect">
            <a:avLst>
              <a:gd name="adj" fmla="val 10886"/>
            </a:avLst>
          </a:prstGeom>
          <a:solidFill>
            <a:srgbClr val="191E25"/>
          </a:solidFill>
          <a:ln w="6350">
            <a:solidFill>
              <a:srgbClr val="2A31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Text 12"/>
          <p:cNvSpPr/>
          <p:nvPr/>
        </p:nvSpPr>
        <p:spPr>
          <a:xfrm>
            <a:off x="1073150" y="4222849"/>
            <a:ext cx="2969387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EEF1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16,8 N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1073150" y="4743549"/>
            <a:ext cx="296938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9AA3A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leszorító erő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397375" y="3645495"/>
            <a:ext cx="3397250" cy="1604070"/>
          </a:xfrm>
          <a:prstGeom prst="roundRect">
            <a:avLst>
              <a:gd name="adj" fmla="val 10886"/>
            </a:avLst>
          </a:prstGeom>
          <a:solidFill>
            <a:srgbClr val="191E25"/>
          </a:solidFill>
          <a:ln w="6350">
            <a:solidFill>
              <a:srgbClr val="2A31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8" name="Text 15"/>
          <p:cNvSpPr/>
          <p:nvPr/>
        </p:nvSpPr>
        <p:spPr>
          <a:xfrm>
            <a:off x="4654550" y="4222849"/>
            <a:ext cx="2969387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EEF1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1,77×</a:t>
            </a:r>
            <a:endParaRPr lang="en-US" sz="3600" dirty="0"/>
          </a:p>
        </p:txBody>
      </p:sp>
      <p:sp>
        <p:nvSpPr>
          <p:cNvPr id="19" name="Text 16"/>
          <p:cNvSpPr/>
          <p:nvPr/>
        </p:nvSpPr>
        <p:spPr>
          <a:xfrm>
            <a:off x="4654550" y="4743549"/>
            <a:ext cx="296938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9AA3A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mászási biztonság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978775" y="3645495"/>
            <a:ext cx="3397250" cy="1604070"/>
          </a:xfrm>
          <a:prstGeom prst="roundRect">
            <a:avLst>
              <a:gd name="adj" fmla="val 10886"/>
            </a:avLst>
          </a:prstGeom>
          <a:solidFill>
            <a:srgbClr val="191E25"/>
          </a:solidFill>
          <a:ln w="6350">
            <a:solidFill>
              <a:srgbClr val="2A31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1" name="Text 18"/>
          <p:cNvSpPr/>
          <p:nvPr/>
        </p:nvSpPr>
        <p:spPr>
          <a:xfrm>
            <a:off x="8235950" y="4222849"/>
            <a:ext cx="2969387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EEF1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512 g</a:t>
            </a:r>
            <a:endParaRPr lang="en-US" sz="3600" dirty="0"/>
          </a:p>
        </p:txBody>
      </p:sp>
      <p:sp>
        <p:nvSpPr>
          <p:cNvPr id="22" name="Text 19"/>
          <p:cNvSpPr/>
          <p:nvPr/>
        </p:nvSpPr>
        <p:spPr>
          <a:xfrm>
            <a:off x="8235950" y="4743549"/>
            <a:ext cx="296938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9AA3A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tömeg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12800" y="6238280"/>
            <a:ext cx="268160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9AA3A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VÁKUUMOS TÁBLATÖRLŐ ROBOT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0739041" y="6238280"/>
            <a:ext cx="6909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F6B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r>
              <a:rPr lang="en-US" sz="1200" dirty="0">
                <a:solidFill>
                  <a:srgbClr val="9AA3A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/ 09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A40D22E1-5158-68E5-8F2E-8C89432321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4D1A21F-6D28-A677-9FC4-52E72DC2F320}"/>
              </a:ext>
            </a:extLst>
          </p:cNvPr>
          <p:cNvSpPr txBox="1"/>
          <p:nvPr/>
        </p:nvSpPr>
        <p:spPr>
          <a:xfrm>
            <a:off x="2054524" y="2875002"/>
            <a:ext cx="808295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6600" b="1" dirty="0">
                <a:solidFill>
                  <a:schemeClr val="bg1"/>
                </a:solidFill>
              </a:rPr>
              <a:t>Köszönjük a figyelmet!</a:t>
            </a:r>
          </a:p>
        </p:txBody>
      </p:sp>
    </p:spTree>
    <p:extLst>
      <p:ext uri="{BB962C8B-B14F-4D97-AF65-F5344CB8AC3E}">
        <p14:creationId xmlns:p14="http://schemas.microsoft.com/office/powerpoint/2010/main" val="3923794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367</Words>
  <Application>Microsoft Office PowerPoint</Application>
  <PresentationFormat>Widescreen</PresentationFormat>
  <Paragraphs>127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JetBrains Mono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Vákuumos táblatörlő robot</dc:title>
  <dc:subject>PptxGenJS Presentation</dc:subject>
  <dc:creator>PptxGenJS</dc:creator>
  <cp:lastModifiedBy>Máté Mrenka</cp:lastModifiedBy>
  <cp:revision>2</cp:revision>
  <dcterms:created xsi:type="dcterms:W3CDTF">2026-09-30T17:36:06Z</dcterms:created>
  <dcterms:modified xsi:type="dcterms:W3CDTF">2026-09-30T18:02:40Z</dcterms:modified>
</cp:coreProperties>
</file>